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7472"/>
            <a:ext cx="11185855" cy="254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10972"/>
            <a:ext cx="11185855" cy="127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461772"/>
            <a:ext cx="11185855" cy="127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185855" y="475488"/>
            <a:ext cx="50292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014FF"/>
                </a:solidFill>
                <a:latin typeface="Consolas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8229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5C5C5C"/>
                </a:solidFill>
                <a:latin typeface="Consolas"/>
              </a:rPr>
              <a:t>NO-IMAGE</a:t>
            </a:r>
          </a:p>
        </p:txBody>
      </p:sp>
      <p:sp>
        <p:nvSpPr>
          <p:cNvPr id="7" name="Rectangle 6"/>
          <p:cNvSpPr/>
          <p:nvPr/>
        </p:nvSpPr>
        <p:spPr>
          <a:xfrm>
            <a:off x="6876726" y="868680"/>
            <a:ext cx="12700" cy="562356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960120"/>
            <a:ext cx="50800" cy="1417320"/>
          </a:xfrm>
          <a:prstGeom prst="rect">
            <a:avLst/>
          </a:prstGeom>
          <a:solidFill>
            <a:srgbClr val="FFD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" y="914400"/>
            <a:ext cx="6136062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sz="2200" b="1">
                <a:solidFill>
                  <a:srgbClr val="0A0A0A"/>
                </a:solidFill>
                <a:latin typeface="Arial Black"/>
              </a:rPr>
              <a:t>THE PROBLEM: OPPORTUNITIES ARE HIDDEN IN NOISE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395728"/>
            <a:ext cx="6264078" cy="254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2450592"/>
            <a:ext cx="6264078" cy="127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2578608"/>
            <a:ext cx="6264078" cy="3712464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2578608"/>
            <a:ext cx="38100" cy="3712464"/>
          </a:xfrm>
          <a:prstGeom prst="rect">
            <a:avLst/>
          </a:prstGeom>
          <a:solidFill>
            <a:srgbClr val="001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2670048"/>
            <a:ext cx="6081198" cy="3575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300" b="0">
                <a:solidFill>
                  <a:srgbClr val="0A0A0A"/>
                </a:solidFill>
                <a:latin typeface="Georgia"/>
              </a:rPr>
              <a:t>Every day, organizations are surrounded by signals.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300" b="0">
                <a:solidFill>
                  <a:srgbClr val="0A0A0A"/>
                </a:solidFill>
                <a:latin typeface="Georgia"/>
              </a:rPr>
              <a:t>Most organizations never see these signals, or they see them too late.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300" b="0">
                <a:solidFill>
                  <a:srgbClr val="0A0A0A"/>
                </a:solidFill>
                <a:latin typeface="Georgia"/>
              </a:rPr>
              <a:t>The challenge is no longer finding information.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300" b="0">
                <a:solidFill>
                  <a:srgbClr val="0A0A0A"/>
                </a:solidFill>
                <a:latin typeface="Georgia"/>
              </a:rPr>
              <a:t>The challenge is identifying which signals matter and turning them into action.</a:t>
            </a:r>
          </a:p>
          <a:p>
            <a:pPr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0A0A0A"/>
                </a:solidFill>
                <a:latin typeface="Georgia"/>
              </a:rPr>
              <a:t>—  News articles.</a:t>
            </a:r>
          </a:p>
          <a:p>
            <a:pPr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0A0A0A"/>
                </a:solidFill>
                <a:latin typeface="Georgia"/>
              </a:rPr>
              <a:t>—  Government announcements.</a:t>
            </a:r>
          </a:p>
          <a:p>
            <a:pPr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0A0A0A"/>
                </a:solidFill>
                <a:latin typeface="Georgia"/>
              </a:rPr>
              <a:t>—  Budget approvals.</a:t>
            </a:r>
          </a:p>
          <a:p>
            <a:pPr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0A0A0A"/>
                </a:solidFill>
                <a:latin typeface="Georgia"/>
              </a:rPr>
              <a:t>—  Industry changes.</a:t>
            </a:r>
          </a:p>
          <a:p>
            <a:pPr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0A0A0A"/>
                </a:solidFill>
                <a:latin typeface="Georgia"/>
              </a:rPr>
              <a:t>—  Hiring activity.</a:t>
            </a:r>
          </a:p>
          <a:p>
            <a:pPr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0A0A0A"/>
                </a:solidFill>
                <a:latin typeface="Georgia"/>
              </a:rPr>
              <a:t>—  Competitive movements.</a:t>
            </a:r>
          </a:p>
          <a:p>
            <a:pPr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0A0A0A"/>
                </a:solidFill>
                <a:latin typeface="Georgia"/>
              </a:rPr>
              <a:t>—  Customer interactions.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968166" y="914400"/>
            <a:ext cx="4720609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023030" y="969264"/>
            <a:ext cx="4610881" cy="5239512"/>
          </a:xfrm>
          <a:prstGeom prst="rect">
            <a:avLst/>
          </a:prstGeom>
          <a:solidFill>
            <a:srgbClr val="FAFAFA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51046" y="1097280"/>
            <a:ext cx="4354849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00" b="0">
                <a:solidFill>
                  <a:srgbClr val="5C5C5C"/>
                </a:solidFill>
                <a:latin typeface="Consolas"/>
              </a:rPr>
              <a:t>SIGNAL DESK · INCOMING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51046" y="1371600"/>
            <a:ext cx="4354849" cy="127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151046" y="1481328"/>
            <a:ext cx="4354849" cy="12700"/>
          </a:xfrm>
          <a:prstGeom prst="rect">
            <a:avLst/>
          </a:prstGeom>
          <a:solidFill>
            <a:srgbClr val="5C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151046" y="1621028"/>
            <a:ext cx="4006461" cy="127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51046" y="1760728"/>
            <a:ext cx="3396782" cy="127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151046" y="1900428"/>
            <a:ext cx="3832267" cy="12700"/>
          </a:xfrm>
          <a:prstGeom prst="rect">
            <a:avLst/>
          </a:prstGeom>
          <a:solidFill>
            <a:srgbClr val="5C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151046" y="2040128"/>
            <a:ext cx="2830651" cy="127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151046" y="2179828"/>
            <a:ext cx="4137106" cy="127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151046" y="2319528"/>
            <a:ext cx="3135491" cy="12700"/>
          </a:xfrm>
          <a:prstGeom prst="rect">
            <a:avLst/>
          </a:prstGeom>
          <a:solidFill>
            <a:srgbClr val="5C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151046" y="2459228"/>
            <a:ext cx="3701621" cy="127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151046" y="2598928"/>
            <a:ext cx="2612909" cy="127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51046" y="2738628"/>
            <a:ext cx="3919364" cy="12700"/>
          </a:xfrm>
          <a:prstGeom prst="rect">
            <a:avLst/>
          </a:prstGeom>
          <a:solidFill>
            <a:srgbClr val="5C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151046" y="2878328"/>
            <a:ext cx="3048394" cy="127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151046" y="3018028"/>
            <a:ext cx="3570976" cy="127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151046" y="3157728"/>
            <a:ext cx="2395166" cy="12700"/>
          </a:xfrm>
          <a:prstGeom prst="rect">
            <a:avLst/>
          </a:prstGeom>
          <a:solidFill>
            <a:srgbClr val="5C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151046" y="3297428"/>
            <a:ext cx="3832267" cy="127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151046" y="4205874"/>
            <a:ext cx="4354849" cy="254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51046" y="4279026"/>
            <a:ext cx="4354849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0014FF"/>
                </a:solidFill>
                <a:latin typeface="Consolas"/>
              </a:rPr>
              <a:t>▸ ONE SIGNAL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151046" y="4516770"/>
            <a:ext cx="4354849" cy="384048"/>
          </a:xfrm>
          <a:prstGeom prst="rect">
            <a:avLst/>
          </a:prstGeom>
          <a:solidFill>
            <a:srgbClr val="F5F6FF"/>
          </a:solidFill>
          <a:ln w="25400">
            <a:solidFill>
              <a:srgbClr val="001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151046" y="4516770"/>
            <a:ext cx="63500" cy="384048"/>
          </a:xfrm>
          <a:prstGeom prst="rect">
            <a:avLst/>
          </a:prstGeom>
          <a:solidFill>
            <a:srgbClr val="FFD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260774" y="4567570"/>
            <a:ext cx="4226833" cy="3078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0A0A0A"/>
                </a:solidFill>
                <a:latin typeface="Georgia"/>
              </a:rPr>
              <a:t>Budget approved · expansion signal</a:t>
            </a:r>
          </a:p>
        </p:txBody>
      </p:sp>
      <p:sp>
        <p:nvSpPr>
          <p:cNvPr id="38" name="Oval 37"/>
          <p:cNvSpPr/>
          <p:nvPr/>
        </p:nvSpPr>
        <p:spPr>
          <a:xfrm>
            <a:off x="7151046" y="5111130"/>
            <a:ext cx="182880" cy="182880"/>
          </a:xfrm>
          <a:prstGeom prst="ellipse">
            <a:avLst/>
          </a:prstGeom>
          <a:solidFill>
            <a:srgbClr val="FAFAFA"/>
          </a:solidFill>
          <a:ln w="12700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140886" y="5189870"/>
            <a:ext cx="203200" cy="127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805888" y="5111130"/>
            <a:ext cx="182880" cy="182880"/>
          </a:xfrm>
          <a:prstGeom prst="ellipse">
            <a:avLst/>
          </a:prstGeom>
          <a:solidFill>
            <a:srgbClr val="FAFAFA"/>
          </a:solidFill>
          <a:ln w="12700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795728" y="5189870"/>
            <a:ext cx="203200" cy="127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0460731" y="5111130"/>
            <a:ext cx="182880" cy="182880"/>
          </a:xfrm>
          <a:prstGeom prst="ellipse">
            <a:avLst/>
          </a:prstGeom>
          <a:solidFill>
            <a:srgbClr val="FAFAFA"/>
          </a:solidFill>
          <a:ln w="12700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450571" y="5189870"/>
            <a:ext cx="203200" cy="127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 rot="19500000">
            <a:off x="11002975" y="5156850"/>
            <a:ext cx="12700" cy="32004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 rot="19500000">
            <a:off x="11079175" y="5233050"/>
            <a:ext cx="12700" cy="32004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 rot="19500000">
            <a:off x="11155375" y="5309250"/>
            <a:ext cx="12700" cy="32004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 rot="19500000">
            <a:off x="11231575" y="5385450"/>
            <a:ext cx="12700" cy="32004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 rot="19500000">
            <a:off x="11307775" y="5461650"/>
            <a:ext cx="12700" cy="32004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 rot="19500000">
            <a:off x="11383975" y="5537850"/>
            <a:ext cx="12700" cy="32004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151046" y="5861304"/>
            <a:ext cx="435484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00" b="0">
                <a:solidFill>
                  <a:srgbClr val="5C5C5C"/>
                </a:solidFill>
                <a:latin typeface="Consolas"/>
              </a:rPr>
              <a:t>Fig. 1 — Signal vs. noise at the desk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02920" y="6473952"/>
            <a:ext cx="11185855" cy="127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02920" y="6524752"/>
            <a:ext cx="11185855" cy="127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2920" y="6547104"/>
            <a:ext cx="11185855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>
                <a:solidFill>
                  <a:srgbClr val="0014FF"/>
                </a:solidFill>
                <a:latin typeface="Consolas"/>
              </a:rPr>
              <a:t>THE BAND IT LAYER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