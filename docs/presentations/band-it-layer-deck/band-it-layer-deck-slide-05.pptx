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47472"/>
            <a:ext cx="11185855" cy="254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0972"/>
            <a:ext cx="11185855" cy="127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461772"/>
            <a:ext cx="11185855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682935" y="457200"/>
            <a:ext cx="10058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0A0A0A"/>
                </a:solidFill>
                <a:latin typeface="Georgia"/>
              </a:rPr>
              <a:t>Page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22960"/>
            <a:ext cx="105457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5C5C5C"/>
                </a:solidFill>
                <a:latin typeface="Consolas"/>
              </a:rPr>
              <a:t>VOL. I · THE BAND IT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876726" y="868680"/>
            <a:ext cx="12700" cy="562356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50800" cy="1417320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" y="914400"/>
            <a:ext cx="6136062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</a:pPr>
            <a:r>
              <a:rPr sz="2200" b="1">
                <a:solidFill>
                  <a:srgbClr val="0A0A0A"/>
                </a:solidFill>
                <a:latin typeface="Arial Black"/>
              </a:rPr>
              <a:t>SIGNAL PROCESSING &amp; OPPORTUNITY DISCOVERY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95728"/>
            <a:ext cx="6264078" cy="254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450592"/>
            <a:ext cx="6264078" cy="1270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578608"/>
            <a:ext cx="6264078" cy="3712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578608"/>
            <a:ext cx="38100" cy="3712464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670048"/>
            <a:ext cx="6081198" cy="3575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Band It continuously monitors information sources and identifies signals that may indicate opportunities.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Examples: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Weak signals often become major opportunities.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300" b="0">
                <a:solidFill>
                  <a:srgbClr val="0A0A0A"/>
                </a:solidFill>
                <a:latin typeface="Georgia"/>
              </a:rPr>
              <a:t>The earlier you detect them, the greater the advantage.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—  Market changes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—  Funding announcements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—  New programs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—  Procurement activity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—  Industry events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—  Organizational changes</a:t>
            </a:r>
          </a:p>
          <a:p>
            <a:pPr>
              <a:lnSpc>
                <a:spcPct val="110000"/>
              </a:lnSpc>
              <a:spcAft>
                <a:spcPts val="400"/>
              </a:spcAft>
            </a:pPr>
            <a:r>
              <a:rPr sz="1200" b="0">
                <a:solidFill>
                  <a:srgbClr val="0A0A0A"/>
                </a:solidFill>
                <a:latin typeface="Georgia"/>
              </a:rPr>
              <a:t>—  Competitive movement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68166" y="914400"/>
            <a:ext cx="4720609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A0A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lide 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1318" y="987552"/>
            <a:ext cx="4574305" cy="52943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